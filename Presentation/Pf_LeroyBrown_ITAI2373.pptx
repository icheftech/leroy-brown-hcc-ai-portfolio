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f89684f3344aaa" /><Relationship Type="http://schemas.openxmlformats.org/officeDocument/2006/relationships/extended-properties" Target="/docProps/app.xml" Id="R2729f09e93f94736" /><Relationship Type="http://schemas.openxmlformats.org/officeDocument/2006/relationships/officeDocument" Target="/ppt/presentation.xml" Id="Re77eca6991b448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095a60db424897"/>
  </p:sldMasterIdLst>
  <p:notesMasterIdLst>
    <p:notesMasterId xmlns:r="http://schemas.openxmlformats.org/officeDocument/2006/relationships" r:id="Red8ee7e14d5745a2"/>
  </p:notesMasterIdLst>
  <p:sldIdLst>
    <p:sldId xmlns:r="http://schemas.openxmlformats.org/officeDocument/2006/relationships" id="256" r:id="R4cce767d7cb7456c"/>
    <p:sldId xmlns:r="http://schemas.openxmlformats.org/officeDocument/2006/relationships" id="257" r:id="R9812575cad504605"/>
    <p:sldId xmlns:r="http://schemas.openxmlformats.org/officeDocument/2006/relationships" id="258" r:id="R28d26150b4ee486a"/>
    <p:sldId xmlns:r="http://schemas.openxmlformats.org/officeDocument/2006/relationships" id="259" r:id="R7f755a3f1681413f"/>
    <p:sldId xmlns:r="http://schemas.openxmlformats.org/officeDocument/2006/relationships" id="260" r:id="R9843b6b0b160465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095a60db424897" /><Relationship Type="http://schemas.openxmlformats.org/officeDocument/2006/relationships/theme" Target="/ppt/theme/theme1.xml" Id="R7c716b805511418e" /><Relationship Type="http://schemas.openxmlformats.org/officeDocument/2006/relationships/notesMaster" Target="/ppt/notesMasters/notesMaster1.xml" Id="Red8ee7e14d5745a2" /><Relationship Type="http://schemas.openxmlformats.org/officeDocument/2006/relationships/presProps" Target="/ppt/presProps.xml" Id="Re035fd2defc34818" /><Relationship Type="http://schemas.openxmlformats.org/officeDocument/2006/relationships/viewProps" Target="/ppt/viewProps.xml" Id="R1302fc250cb34bac" /><Relationship Type="http://schemas.openxmlformats.org/officeDocument/2006/relationships/tableStyles" Target="/ppt/tableStyles.xml" Id="Re7b07c747f264090" /><Relationship Type="http://schemas.openxmlformats.org/officeDocument/2006/relationships/slide" Target="/ppt/slides/slide1.xml" Id="R4cce767d7cb7456c" /><Relationship Type="http://schemas.openxmlformats.org/officeDocument/2006/relationships/slide" Target="/ppt/slides/slide2.xml" Id="R9812575cad504605" /><Relationship Type="http://schemas.openxmlformats.org/officeDocument/2006/relationships/slide" Target="/ppt/slides/slide3.xml" Id="R28d26150b4ee486a" /><Relationship Type="http://schemas.openxmlformats.org/officeDocument/2006/relationships/slide" Target="/ppt/slides/slide4.xml" Id="R7f755a3f1681413f" /><Relationship Type="http://schemas.openxmlformats.org/officeDocument/2006/relationships/slide" Target="/ppt/slides/slide5.xml" Id="R9843b6b0b16046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06895e7550343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AI Portfolio">
  <a:themeElements>
    <a:clrScheme name="AI Portfolio">
      <a:accent1>
        <a:srgbClr val="12A8C8"/>
      </a:accent1>
      <a:accent2>
        <a:srgbClr val="22A06B"/>
      </a:accent2>
      <a:accent3>
        <a:srgbClr val="D99A2B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I Portfoli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2b563c44744dd0" /><Relationship Type="http://schemas.openxmlformats.org/officeDocument/2006/relationships/notesMaster" Target="/ppt/notesMasters/notesMaster1.xml" Id="Rd01190ce54574a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958e35bb8e4552" /><Relationship Type="http://schemas.openxmlformats.org/officeDocument/2006/relationships/notesMaster" Target="/ppt/notesMasters/notesMaster1.xml" Id="R222bca2894ac4e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292f8e850948aa" /><Relationship Type="http://schemas.openxmlformats.org/officeDocument/2006/relationships/notesMaster" Target="/ppt/notesMasters/notesMaster1.xml" Id="Rb9185ec70c7e4c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2ff839eeac44b8" /><Relationship Type="http://schemas.openxmlformats.org/officeDocument/2006/relationships/notesMaster" Target="/ppt/notesMasters/notesMaster1.xml" Id="Rf7e3961d3f2647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5e2d691fbd408f" /><Relationship Type="http://schemas.openxmlformats.org/officeDocument/2006/relationships/notesMaster" Target="/ppt/notesMasters/notesMaster1.xml" Id="R7508928a633641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15c6eb80e4b9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0e389860b6d4901" /><Relationship Type="http://schemas.openxmlformats.org/officeDocument/2006/relationships/slideLayout" Target="/ppt/slideLayouts/slideLayout2.xml" Id="R10c1b509b52044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c1b509b52044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82dbda35054177" /><Relationship Type="http://schemas.openxmlformats.org/officeDocument/2006/relationships/notesSlide" Target="/ppt/notesSlides/notesSlide1.xml" Id="R4e343d376c9d49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ae3d021bba4f38" /><Relationship Type="http://schemas.openxmlformats.org/officeDocument/2006/relationships/notesSlide" Target="/ppt/notesSlides/notesSlide2.xml" Id="R63c5adfbd1bf40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0f0e9033ce4950" /><Relationship Type="http://schemas.openxmlformats.org/officeDocument/2006/relationships/notesSlide" Target="/ppt/notesSlides/notesSlide3.xml" Id="Rf8d52514dae04c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6ca4b25ffb4d4c" /><Relationship Type="http://schemas.openxmlformats.org/officeDocument/2006/relationships/notesSlide" Target="/ppt/notesSlides/notesSlide4.xml" Id="Rec3a3a806f954b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ad5ffd31d24aae" /><Relationship Type="http://schemas.openxmlformats.org/officeDocument/2006/relationships/notesSlide" Target="/ppt/notesSlides/notesSlide5.xml" Id="Rb90760db1f07429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FDD4CA-AABB-42C1-9208-3376C1BD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3284C-CB08-47AC-8F9F-B7E2D5FE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6E6847-47FB-4E79-BB80-6B724907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9075"/>
            <a:ext cx="4333875" cy="6638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89D764-8872-40F2-AA81-1E944E3F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5334000" cy="723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pPr>
            <a:r>
              <a:rPr sz="42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Leroy Brown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43015-1178-4818-AD2A-5F3213AE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71475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A8C8"/>
                </a:solidFill>
                <a:latin typeface="Lato"/>
                <a:ea typeface="Lato"/>
                <a:cs typeface="Lato"/>
              </a:defRPr>
            </a:pPr>
            <a:r>
              <a:rPr sz="1875" b="1">
                <a:solidFill>
                  <a:srgbClr val="12A8C8"/>
                </a:solidFill>
                <a:latin typeface="Lato"/>
                <a:ea typeface="Lato"/>
                <a:cs typeface="Lato"/>
              </a:rPr>
              <a:t>Applied AI &amp; Robotics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00024-E7BC-4861-8B21-77BDD681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3143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1049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AF2FF"/>
                </a:solidFill>
                <a:latin typeface="Lato"/>
                <a:ea typeface="Lato"/>
                <a:cs typeface="Lato"/>
              </a:defRPr>
            </a:pPr>
            <a:r>
              <a:rPr sz="2025" b="0">
                <a:solidFill>
                  <a:srgbClr val="EAF2FF"/>
                </a:solidFill>
                <a:latin typeface="Lato"/>
                <a:ea typeface="Lato"/>
                <a:cs typeface="Lato"/>
              </a:rPr>
              <a:t>Production AI systems, NLP intelligence, governance controls, and deployed software.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98E56-67E2-4703-BB6C-C550F140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2875"/>
            <a:ext cx="20002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GitHub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EC768-2203-4F9C-8A80-10833C76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238500" cy="685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650" b="0">
                <a:solidFill>
                  <a:srgbClr val="FFFFFF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20579-8ACB-4AEA-B64B-5D36114D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93345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839D3-558D-4E88-A2D4-ADA9E88A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87630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DA33F-31BC-4502-AAE6-B8F1E9C2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8763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BE61A-250A-415A-9DE3-CD06E429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162050"/>
            <a:ext cx="21907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NLP Intelligence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0B9AB8-CA06-452D-A90E-4BCF9446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581150"/>
            <a:ext cx="2095500" cy="762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7990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NewsBot: topics, summaries, embeddings, sentiment, interactive exploration.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A3382C-9BC8-4359-AF92-6605B207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93345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4B51A6-B406-493A-94E8-92249E0F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F040D5-A2FD-4DE6-8BEA-65EE8CCE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3278C-CA09-46C2-96AE-A0D0F391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162050"/>
            <a:ext cx="21907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Governed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0F8461-F606-4823-85F4-6CCFCCE1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81150"/>
            <a:ext cx="2095500" cy="762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22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SSO control plane: policy gates, approvals, kill switches, audit 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73B423-9F37-42D2-A322-CE238BEB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C0007D-98E0-4157-8F82-8FA6FD96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14325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6A90E5-7F8F-4796-964F-48D40AAC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1432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8100DF-5B5E-4159-94ED-440A5A1C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429000"/>
            <a:ext cx="21907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Agentic Workflows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456A7-8E38-492F-BEDF-45142075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848100"/>
            <a:ext cx="2095500" cy="762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85807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LangGraph systems for bids, cloud operations, and household automation.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D8516E-5591-4FE2-8D41-B5C82661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20040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4BB73B-82E7-476D-92B6-661CA724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2762250" cy="1809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D89EE8-F152-4FF6-9958-671E354D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51141B-7671-4488-9D50-3ABFBBB3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29000"/>
            <a:ext cx="21907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Full-Stack Delivery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969AC-4F7D-421C-A909-1ABA6353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48100"/>
            <a:ext cx="2095500" cy="762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FastAPI, Next.js, PostgreSQL, deployment, documentation, and dashboards.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8F920A-3E03-4161-B515-F383B5CE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6667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24EE81-F3F8-48F4-ACCE-53FE3C0A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28650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AI &amp; Robotics Portfolio</a:t>
            </a:r>
          </a:p>
        </p:txBody>
      </p:sp>
    </p:spTree>
    <p:extLst>
      <p:ext uri="{BB962C8B-B14F-4D97-AF65-F5344CB8AC3E}">
        <p14:creationId xmlns:p14="http://schemas.microsoft.com/office/powerpoint/2010/main" val="405570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8C78C1-C97E-4AEE-9AE0-F111DB95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17750-016C-4950-B097-D532B41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CD901-8C85-46E6-9E03-EBA3F7ED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49530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033"/>
                </a:solidFill>
                <a:latin typeface="Poppins"/>
                <a:ea typeface="Poppins"/>
                <a:cs typeface="Poppins"/>
              </a:defRPr>
            </a:pPr>
            <a:r>
              <a:rPr sz="3150" b="1">
                <a:solidFill>
                  <a:srgbClr val="102033"/>
                </a:solidFill>
                <a:latin typeface="Poppins"/>
                <a:ea typeface="Poppins"/>
                <a:cs typeface="Poppins"/>
              </a:rPr>
              <a:t>Learning Journey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A46AA-5574-40E0-89A4-71E4EC51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78105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From NLP foundations to agentic systems and responsible AI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FFAE2-BE13-42F1-819D-942720C1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590800"/>
            <a:ext cx="876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8"/>
          </a:solidFill>
          <a:ln xmlns:a="http://schemas.openxmlformats.org/drawingml/2006/main" w="0">
            <a:solidFill>
              <a:srgbClr val="D7DEE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09132-2722-47A4-80C2-726955BB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43C4E-BD51-4DC3-917C-465429A1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6858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4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0ECE8-3572-4744-9CD6-9C3C7A73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95650"/>
            <a:ext cx="1476375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NLP Foundations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A6243-035A-4D50-999C-6738B21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14750"/>
            <a:ext cx="1809750" cy="1000125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NewsBot pipeline: classify, summarize, embed, and explore news text.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0CF39-E87F-425A-9C19-91397FEA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2669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6BB3F-A3AF-460F-A664-C15A234B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62200"/>
            <a:ext cx="6858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4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3B9106-AE90-4DE7-804E-9F3709F0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95650"/>
            <a:ext cx="1476375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Applied AI Systems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2FC058-276C-4219-8BB8-2BB71359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14750"/>
            <a:ext cx="1809750" cy="1000125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bidops and CloudArch connect agents to operational decisions.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206AFB-DFF5-422F-A0D4-DE62EDF6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7D65-775D-4BE3-8CA1-F4C3AC6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62200"/>
            <a:ext cx="6858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4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5FFA9-3C4A-4CC8-AC04-B2ACE15C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1476375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Governance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45735-C7AD-4B0F-AB9E-2734BC07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1809750" cy="1000125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SSO Control Plane turns responsible AI into enforceable software controls.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54E054-B738-43F9-99D0-387FC65A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2669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AD8F27-B893-402C-BDC2-8C7327EB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62200"/>
            <a:ext cx="6858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24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F8D9D7-5B7D-451C-9D50-69658CE1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95650"/>
            <a:ext cx="1476375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6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Deployment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3B9509-68D9-48FE-A8AA-6C07B46F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14750"/>
            <a:ext cx="1809750" cy="1000125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PMBC Connect and intake services show practical full-stack delivery.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D3379E-1FD6-4B9F-A00C-EB7984ED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334000"/>
            <a:ext cx="1143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6FA"/>
          </a:solidFill>
          <a:ln xmlns:a="http://schemas.openxmlformats.org/drawingml/2006/main" w="0">
            <a:solidFill>
              <a:srgbClr val="E9F6FA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Python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2E7A9-6FB6-43A5-B95E-014611C8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34000"/>
            <a:ext cx="1219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F8F2"/>
          </a:solidFill>
          <a:ln xmlns:a="http://schemas.openxmlformats.org/drawingml/2006/main" w="0">
            <a:solidFill>
              <a:srgbClr val="ECF8F2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FastAPI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64182-257F-4491-AF3B-32B64209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334000"/>
            <a:ext cx="14668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B"/>
          </a:solidFill>
          <a:ln xmlns:a="http://schemas.openxmlformats.org/drawingml/2006/main" w="0">
            <a:solidFill>
              <a:srgbClr val="FFF3DB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LangGraph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AEAB26-8136-4D6E-9116-ECD61EF2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334000"/>
            <a:ext cx="1219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6FA"/>
          </a:solidFill>
          <a:ln xmlns:a="http://schemas.openxmlformats.org/drawingml/2006/main" w="0">
            <a:solidFill>
              <a:srgbClr val="E9F6FA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Next.js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091C0F-0B8F-4937-97FC-591EA9C9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34000"/>
            <a:ext cx="1524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F8F2"/>
          </a:solidFill>
          <a:ln xmlns:a="http://schemas.openxmlformats.org/drawingml/2006/main" w="0">
            <a:solidFill>
              <a:srgbClr val="ECF8F2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PostgreSQL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9521F7-D506-43FB-AA86-CB86CAC3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334000"/>
            <a:ext cx="1809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B"/>
          </a:solidFill>
          <a:ln xmlns:a="http://schemas.openxmlformats.org/drawingml/2006/main" w="0">
            <a:solidFill>
              <a:srgbClr val="FFF3DB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NIST AI RMF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00CACA-620A-427C-A0C4-6C0831F6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6667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077C91-D3CC-4598-91D7-0BEB227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28650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AI &amp; Robotics Portfolio</a:t>
            </a:r>
          </a:p>
        </p:txBody>
      </p:sp>
    </p:spTree>
    <p:extLst>
      <p:ext uri="{BB962C8B-B14F-4D97-AF65-F5344CB8AC3E}">
        <p14:creationId xmlns:p14="http://schemas.microsoft.com/office/powerpoint/2010/main" val="20238218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EA9B17-0731-4A6C-8AFC-C6794146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E9483-BA64-41A9-A875-E3352D19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C9681-ECCA-4999-9136-A930EBC4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514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033"/>
                </a:solidFill>
                <a:latin typeface="Poppins"/>
                <a:ea typeface="Poppins"/>
                <a:cs typeface="Poppins"/>
              </a:defRPr>
            </a:pPr>
            <a:r>
              <a:rPr sz="3150" b="1">
                <a:solidFill>
                  <a:srgbClr val="102033"/>
                </a:solidFill>
                <a:latin typeface="Poppins"/>
                <a:ea typeface="Poppins"/>
                <a:cs typeface="Poppins"/>
              </a:rPr>
              <a:t>Featured Projects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30812-C413-409E-B895-1F8E324A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85725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Three examples show the portfolio range: NLP, governance, and business automation.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BA2449-ED34-4845-9581-B1A37D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5740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05854-D327-4A3C-82AC-0FA0134D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FDCE0-8252-4F50-A6F7-CC054CA8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5B93B-AD14-4E74-9330-3867DA63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26670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5679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2025" b="1">
                <a:solidFill>
                  <a:srgbClr val="102033"/>
                </a:solidFill>
                <a:latin typeface="Lato"/>
                <a:ea typeface="Lato"/>
                <a:cs typeface="Lato"/>
              </a:rPr>
              <a:t>NewsBot Intelligence Engine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79027-D906-4487-B77D-C6117795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266700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Turns raw news into topics, summaries, sentiment, embeddings, and an interactive Gradio interface.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8151A9-6997-465B-B389-6100FD2D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00550"/>
            <a:ext cx="26670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A8C8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2A8C8"/>
                </a:solidFill>
                <a:latin typeface="Lato"/>
                <a:ea typeface="Lato"/>
                <a:cs typeface="Lato"/>
              </a:rPr>
              <a:t>FastAPI | LDA | DistilBART | SentenceTransformers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39F8A-F8E1-44F1-B8B1-BA7534F8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5740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CA8BA7-CE48-4DDB-982A-D365BC3C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9EB5F3-BCA2-4845-930C-F0100F1E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F4415E-A943-4633-9FF4-21A40A00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86000"/>
            <a:ext cx="26670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2025" b="1">
                <a:solidFill>
                  <a:srgbClr val="102033"/>
                </a:solidFill>
                <a:latin typeface="Lato"/>
                <a:ea typeface="Lato"/>
                <a:cs typeface="Lato"/>
              </a:rPr>
              <a:t>SSO Control Plane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59CDC-5353-40F3-A358-F4BC3465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48000"/>
            <a:ext cx="266700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768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Governs AI workflows with NIST AI RMF alignment, policy gates, emergency stops, and cryptographic audit chains.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160C7-2B16-4EFA-AA7F-13889441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00550"/>
            <a:ext cx="26670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9A2B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D99A2B"/>
                </a:solidFill>
                <a:latin typeface="Lato"/>
                <a:ea typeface="Lato"/>
                <a:cs typeface="Lato"/>
              </a:rPr>
              <a:t>Python | FastAPI | PostgreSQL | SQLAlchemy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4A735E-5E62-4C13-8FFE-59E24C15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5740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27ECD-DA1E-4742-93F1-E718A332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3238500" cy="3048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6DF0AA-5561-4CC0-B6A9-11A407E9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80B74-7A63-41FC-9005-D653AE37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86000"/>
            <a:ext cx="26670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2025" b="1">
                <a:solidFill>
                  <a:srgbClr val="102033"/>
                </a:solidFill>
                <a:latin typeface="Lato"/>
                <a:ea typeface="Lato"/>
                <a:cs typeface="Lato"/>
              </a:rPr>
              <a:t>bidops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F99332-B69F-4926-A0DF-9C4B7568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48000"/>
            <a:ext cx="266700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57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Scores and routes public contract opportunities using AI-native sourcing workflows and operational data.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971136-DC8D-4DA5-B8AA-534AC312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26670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A06B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22A06B"/>
                </a:solidFill>
                <a:latin typeface="Lato"/>
                <a:ea typeface="Lato"/>
                <a:cs typeface="Lato"/>
              </a:rPr>
              <a:t>Next.js | FastAPI | LangGraph | Railway Postgres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89ECF-91D5-4199-9E5C-7DF4239C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82867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Project links are available from the main portfolio README.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FCA1F-59C4-496F-B8AF-F04553CD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6667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A41C6-C06F-4427-B2CB-54BF9CAC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28650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AI &amp; Robotics Portfolio</a:t>
            </a:r>
          </a:p>
        </p:txBody>
      </p:sp>
    </p:spTree>
    <p:extLst>
      <p:ext uri="{BB962C8B-B14F-4D97-AF65-F5344CB8AC3E}">
        <p14:creationId xmlns:p14="http://schemas.microsoft.com/office/powerpoint/2010/main" val="17670594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72160D-71BD-40BF-B2F0-B7C63A1C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49C79-48BF-40C8-987D-A09F3AB5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6DE6C-08FD-416F-B975-85F5F8D6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53340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033"/>
                </a:solidFill>
                <a:latin typeface="Poppins"/>
                <a:ea typeface="Poppins"/>
                <a:cs typeface="Poppins"/>
              </a:defRPr>
            </a:pPr>
            <a:r>
              <a:rPr sz="3150" b="1">
                <a:solidFill>
                  <a:srgbClr val="102033"/>
                </a:solidFill>
                <a:latin typeface="Poppins"/>
                <a:ea typeface="Poppins"/>
                <a:cs typeface="Poppins"/>
              </a:rPr>
              <a:t>Technical Arsenal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3BF72-EB27-409E-BB9F-3C428B03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85725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 practical stack for building useful, reviewable, and deployable AI systems.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20BA6-94ED-41A5-BDD3-4E2C4338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AI/NLP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E2566-A620-49CF-904C-E7DF1479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114550"/>
            <a:ext cx="4762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5597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Topic modeling, summarization, embeddings, sentiment, 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39160-B158-4EEB-A3E9-32DA593D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33600"/>
            <a:ext cx="30480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FD710-6D5D-4D61-9ACF-45BA2EA7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33600"/>
            <a:ext cx="280416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D1DE0-9640-4F7B-91B9-3E1AA06D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Agents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53243A-25EF-41BF-BFB0-0416F795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81300"/>
            <a:ext cx="4762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8880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LangGraph workflows, routing, tool orchestration, human approval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05B4B-A27F-48F2-9653-F1DA4CD6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800350"/>
            <a:ext cx="30480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91E0B-5374-4C51-93AA-2E4713B4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800350"/>
            <a:ext cx="256032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7923C-C077-4032-805F-44C166E9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Backend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314D7-76BD-409C-AC5B-17F58F14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448050"/>
            <a:ext cx="4762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9908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FastAPI, Python, REST APIs, Postgres, Alembic, Supabase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DB9C4F-9514-4943-AEBD-08FC1529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67100"/>
            <a:ext cx="30480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5EAD89-99F8-46F5-9F24-CBB3887F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67100"/>
            <a:ext cx="268224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D664D-1BEF-4C80-AD24-F49ECC9E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Frontend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E9EED-F90F-4E3F-B75D-015C2DB9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14800"/>
            <a:ext cx="4762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9366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Next.js, TypeScript, React dashboards, deployed interfaces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52BCE-897D-40D2-AECE-44805FE6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133850"/>
            <a:ext cx="30480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1E69DE-8F30-43C2-8532-686F6314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133850"/>
            <a:ext cx="24384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B6ED1-85A3-4B4C-A247-33683D1D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6192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8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E21EF2-9EB0-439F-8C37-A7E7303F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81550"/>
            <a:ext cx="4762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740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4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NIST AI RMF, audit chains, control policies, PHI/PII practices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C8534B-C99D-4D92-926B-DCEDA0C4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00600"/>
            <a:ext cx="30480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8CD895-6121-4BB8-AF45-FE834EB1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00600"/>
            <a:ext cx="27432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C124D9-F4FC-4B0F-8144-5C576C4F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6667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AF8480-E74B-4D9D-9085-305F8EC7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28650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AI &amp; Robotics Portfolio</a:t>
            </a:r>
          </a:p>
        </p:txBody>
      </p:sp>
    </p:spTree>
    <p:extLst>
      <p:ext uri="{BB962C8B-B14F-4D97-AF65-F5344CB8AC3E}">
        <p14:creationId xmlns:p14="http://schemas.microsoft.com/office/powerpoint/2010/main" val="7045901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683A1B-AA31-43E9-9D72-7B1D6054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B4F"/>
          </a:solidFill>
          <a:ln xmlns:a="http://schemas.openxmlformats.org/drawingml/2006/main" w="0">
            <a:solidFill>
              <a:srgbClr val="132B4F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9F89C-E65A-4117-B2ED-65801DE7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90CB8-24FD-4CA8-8D3E-5FA7B83D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"/>
            <a:ext cx="6286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033"/>
                </a:solidFill>
                <a:latin typeface="Poppins"/>
                <a:ea typeface="Poppins"/>
                <a:cs typeface="Poppins"/>
              </a:defRPr>
            </a:pPr>
            <a:r>
              <a:rPr sz="3150" b="1">
                <a:solidFill>
                  <a:srgbClr val="102033"/>
                </a:solidFill>
                <a:latin typeface="Poppins"/>
                <a:ea typeface="Poppins"/>
                <a:cs typeface="Poppins"/>
              </a:rPr>
              <a:t>Reflection &amp; Next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25B4D-8482-4630-A1B8-4EAEE6B8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933450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4698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The strongest lesson: useful AI needs product thinking, controls, data flow, and clear documentation.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39809-3D35-4F92-B7A4-D63B93E4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52650"/>
            <a:ext cx="4762500" cy="2381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87222-0C6A-4910-9657-80139B3B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762500" cy="2381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42B6E-1997-4E79-92E1-538D80A3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8C8"/>
          </a:solidFill>
          <a:ln xmlns:a="http://schemas.openxmlformats.org/drawingml/2006/main" w="0">
            <a:solidFill>
              <a:srgbClr val="12A8C8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0D3D7-85A7-4EFA-85A0-8DF9648A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352425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21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Where I am growing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57C436-CF06-467D-A983-C9543302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8950"/>
            <a:ext cx="3714750" cy="1066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9182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Production-grade AI services</a:t>
            </a:r>
          </a:p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Responsible automation with human oversight</a:t>
            </a:r>
          </a:p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Model-backed dashboards for real teams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49B50-AD4D-461F-A8E7-20D03676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52650"/>
            <a:ext cx="4762500" cy="2381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4EE"/>
          </a:solidFill>
          <a:ln xmlns:a="http://schemas.openxmlformats.org/drawingml/2006/main" w="0">
            <a:solidFill>
              <a:srgbClr val="DCE4E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63F09E-A713-49F6-8088-56871EEA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762500" cy="2381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AFCF91-D792-4974-9A9F-FA7BC25A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762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A06B"/>
          </a:solidFill>
          <a:ln xmlns:a="http://schemas.openxmlformats.org/drawingml/2006/main" w="0">
            <a:solidFill>
              <a:srgbClr val="22A06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B704C-6663-4663-8226-A43EF563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28875"/>
            <a:ext cx="352425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210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What I am seeking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743B4-A9DA-4BAC-82E4-2243A1F4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3714750" cy="1066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AI engineering roles</a:t>
            </a:r>
          </a:p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NLP projects</a:t>
            </a:r>
          </a:p>
          <a:p xmlns:a="http://schemas.openxmlformats.org/drawingml/2006/main">
            <a:pPr algn="l">
              <a:defRPr sz="1725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5A6678"/>
                </a:solidFill>
                <a:latin typeface="Lato"/>
                <a:ea typeface="Lato"/>
                <a:cs typeface="Lato"/>
              </a:rPr>
              <a:t>Collaborations in governance and automation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D62F5-F103-4B18-824E-FE62D026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2524125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6FA"/>
          </a:solidFill>
          <a:ln xmlns:a="http://schemas.openxmlformats.org/drawingml/2006/main" w="0">
            <a:solidFill>
              <a:srgbClr val="E9F6FA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github.com/icheftech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69A62E-E24C-40EE-BBC7-EE513F24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91125"/>
            <a:ext cx="3714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F8F2"/>
          </a:solidFill>
          <a:ln xmlns:a="http://schemas.openxmlformats.org/drawingml/2006/main" w="0">
            <a:solidFill>
              <a:srgbClr val="ECF8F2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Portfolio: Leroy-Brown-HCC-AI-Portfolio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0F1FD1-90CB-481D-AD84-8FB8374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191125"/>
            <a:ext cx="34290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B"/>
          </a:solidFill>
          <a:ln xmlns:a="http://schemas.openxmlformats.org/drawingml/2006/main" w="0">
            <a:solidFill>
              <a:srgbClr val="FFF3DB"/>
            </a:solidFill>
          </a:ln>
        </p:spPr>
        <p:txBody>
          <a:bodyPr xmlns:a="http://schemas.openxmlformats.org/drawingml/2006/main" lIns="152400" tIns="47625" rIns="152400" bIns="47625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033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102033"/>
                </a:solidFill>
                <a:latin typeface="Lato"/>
                <a:ea typeface="Lato"/>
                <a:cs typeface="Lato"/>
              </a:rPr>
              <a:t>LinkedIn / Email: add before final submission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35C202-A4E6-411D-950B-8944827A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6667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github.com/icheftech/Leroy-Brown-HCC-AI-Portfolio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1E10AA-9055-4676-BBE1-DD0D712F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6286500"/>
            <a:ext cx="29527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A6678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5A6678"/>
                </a:solidFill>
                <a:latin typeface="Lato"/>
                <a:ea typeface="Lato"/>
                <a:cs typeface="Lato"/>
              </a:rPr>
              <a:t>Applied AI &amp; Robotics Portfolio</a:t>
            </a:r>
          </a:p>
        </p:txBody>
      </p:sp>
    </p:spTree>
    <p:extLst>
      <p:ext uri="{BB962C8B-B14F-4D97-AF65-F5344CB8AC3E}">
        <p14:creationId xmlns:p14="http://schemas.microsoft.com/office/powerpoint/2010/main" val="935790062"/>
      </p:ext>
    </p:extLst>
  </p:cSld>
</p:sld>
</file>

<file path=ppt/theme/theme1.xml><?xml version="1.0" encoding="utf-8"?>
<a:theme xmlns:a="http://schemas.openxmlformats.org/drawingml/2006/main" name="AI Portfolio">
  <a:themeElements>
    <a:clrScheme name="AI Portfolio">
      <a:accent1>
        <a:srgbClr val="12A8C8"/>
      </a:accent1>
      <a:accent2>
        <a:srgbClr val="22A06B"/>
      </a:accent2>
      <a:accent3>
        <a:srgbClr val="D99A2B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I Portfoli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2026-05-12T06:20:25.8690000Z</dcterms:created>
  <dcterms:modified xsi:type="dcterms:W3CDTF">2026-05-12T06:20:25.8690000Z</dcterms:modified>
</coreProperties>
</file>